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8" r:id="rId2"/>
    <p:sldId id="259" r:id="rId3"/>
    <p:sldId id="263" r:id="rId4"/>
    <p:sldId id="265" r:id="rId5"/>
    <p:sldId id="266" r:id="rId6"/>
    <p:sldId id="268" r:id="rId7"/>
    <p:sldId id="269" r:id="rId8"/>
    <p:sldId id="270" r:id="rId9"/>
    <p:sldId id="271" r:id="rId10"/>
    <p:sldId id="272" r:id="rId11"/>
    <p:sldId id="273" r:id="rId12"/>
    <p:sldId id="274" r:id="rId13"/>
    <p:sldId id="275"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thi Royal Kotte" userId="87d7da29e33ea4c3" providerId="LiveId" clId="{79BD6167-0255-4AE7-AB53-CE62C990CBC1}"/>
    <pc:docChg chg="custSel addSld delSld modSld">
      <pc:chgData name="Swathi Royal Kotte" userId="87d7da29e33ea4c3" providerId="LiveId" clId="{79BD6167-0255-4AE7-AB53-CE62C990CBC1}" dt="2025-09-20T12:08:29.060" v="190" actId="14100"/>
      <pc:docMkLst>
        <pc:docMk/>
      </pc:docMkLst>
      <pc:sldChg chg="modSp mod">
        <pc:chgData name="Swathi Royal Kotte" userId="87d7da29e33ea4c3" providerId="LiveId" clId="{79BD6167-0255-4AE7-AB53-CE62C990CBC1}" dt="2025-09-20T12:01:09.329" v="121" actId="14100"/>
        <pc:sldMkLst>
          <pc:docMk/>
          <pc:sldMk cId="23991002" sldId="258"/>
        </pc:sldMkLst>
        <pc:spChg chg="mod">
          <ac:chgData name="Swathi Royal Kotte" userId="87d7da29e33ea4c3" providerId="LiveId" clId="{79BD6167-0255-4AE7-AB53-CE62C990CBC1}" dt="2025-09-20T12:01:09.329" v="121" actId="14100"/>
          <ac:spMkLst>
            <pc:docMk/>
            <pc:sldMk cId="23991002" sldId="258"/>
            <ac:spMk id="2" creationId="{8C9C3B31-7CFC-B111-AB8A-68C269987D4C}"/>
          </ac:spMkLst>
        </pc:spChg>
      </pc:sldChg>
      <pc:sldChg chg="modSp mod">
        <pc:chgData name="Swathi Royal Kotte" userId="87d7da29e33ea4c3" providerId="LiveId" clId="{79BD6167-0255-4AE7-AB53-CE62C990CBC1}" dt="2025-09-20T12:01:21.805" v="123" actId="20577"/>
        <pc:sldMkLst>
          <pc:docMk/>
          <pc:sldMk cId="2834709532" sldId="259"/>
        </pc:sldMkLst>
        <pc:spChg chg="mod">
          <ac:chgData name="Swathi Royal Kotte" userId="87d7da29e33ea4c3" providerId="LiveId" clId="{79BD6167-0255-4AE7-AB53-CE62C990CBC1}" dt="2025-09-20T12:01:21.805" v="123" actId="20577"/>
          <ac:spMkLst>
            <pc:docMk/>
            <pc:sldMk cId="2834709532" sldId="259"/>
            <ac:spMk id="3" creationId="{4B4F0F73-F67D-E161-37E0-8669DD5ED57F}"/>
          </ac:spMkLst>
        </pc:spChg>
      </pc:sldChg>
      <pc:sldChg chg="modSp mod">
        <pc:chgData name="Swathi Royal Kotte" userId="87d7da29e33ea4c3" providerId="LiveId" clId="{79BD6167-0255-4AE7-AB53-CE62C990CBC1}" dt="2025-09-20T11:51:53.568" v="42" actId="14100"/>
        <pc:sldMkLst>
          <pc:docMk/>
          <pc:sldMk cId="2831031091" sldId="271"/>
        </pc:sldMkLst>
        <pc:spChg chg="mod">
          <ac:chgData name="Swathi Royal Kotte" userId="87d7da29e33ea4c3" providerId="LiveId" clId="{79BD6167-0255-4AE7-AB53-CE62C990CBC1}" dt="2025-09-20T11:50:33.704" v="18" actId="20577"/>
          <ac:spMkLst>
            <pc:docMk/>
            <pc:sldMk cId="2831031091" sldId="271"/>
            <ac:spMk id="2" creationId="{E1D83424-B29E-953F-DBF4-D6D98BEBBB77}"/>
          </ac:spMkLst>
        </pc:spChg>
        <pc:spChg chg="mod">
          <ac:chgData name="Swathi Royal Kotte" userId="87d7da29e33ea4c3" providerId="LiveId" clId="{79BD6167-0255-4AE7-AB53-CE62C990CBC1}" dt="2025-09-20T11:51:53.568" v="42" actId="14100"/>
          <ac:spMkLst>
            <pc:docMk/>
            <pc:sldMk cId="2831031091" sldId="271"/>
            <ac:spMk id="3" creationId="{9DA0701F-ED06-781C-450C-46FCD3C5A6C8}"/>
          </ac:spMkLst>
        </pc:spChg>
      </pc:sldChg>
      <pc:sldChg chg="modSp add mod">
        <pc:chgData name="Swathi Royal Kotte" userId="87d7da29e33ea4c3" providerId="LiveId" clId="{79BD6167-0255-4AE7-AB53-CE62C990CBC1}" dt="2025-09-20T11:53:11.977" v="64" actId="2710"/>
        <pc:sldMkLst>
          <pc:docMk/>
          <pc:sldMk cId="2936464530" sldId="272"/>
        </pc:sldMkLst>
        <pc:spChg chg="mod">
          <ac:chgData name="Swathi Royal Kotte" userId="87d7da29e33ea4c3" providerId="LiveId" clId="{79BD6167-0255-4AE7-AB53-CE62C990CBC1}" dt="2025-09-20T11:52:27.194" v="58" actId="20577"/>
          <ac:spMkLst>
            <pc:docMk/>
            <pc:sldMk cId="2936464530" sldId="272"/>
            <ac:spMk id="2" creationId="{20A87A09-C75C-BDDF-223C-222FE143647A}"/>
          </ac:spMkLst>
        </pc:spChg>
        <pc:spChg chg="mod">
          <ac:chgData name="Swathi Royal Kotte" userId="87d7da29e33ea4c3" providerId="LiveId" clId="{79BD6167-0255-4AE7-AB53-CE62C990CBC1}" dt="2025-09-20T11:53:11.977" v="64" actId="2710"/>
          <ac:spMkLst>
            <pc:docMk/>
            <pc:sldMk cId="2936464530" sldId="272"/>
            <ac:spMk id="3" creationId="{5C15AD28-D82B-08D2-DB8A-8EE3C003CF5C}"/>
          </ac:spMkLst>
        </pc:spChg>
      </pc:sldChg>
      <pc:sldChg chg="modSp add mod">
        <pc:chgData name="Swathi Royal Kotte" userId="87d7da29e33ea4c3" providerId="LiveId" clId="{79BD6167-0255-4AE7-AB53-CE62C990CBC1}" dt="2025-09-20T11:54:03.992" v="94" actId="20577"/>
        <pc:sldMkLst>
          <pc:docMk/>
          <pc:sldMk cId="622727262" sldId="273"/>
        </pc:sldMkLst>
        <pc:spChg chg="mod">
          <ac:chgData name="Swathi Royal Kotte" userId="87d7da29e33ea4c3" providerId="LiveId" clId="{79BD6167-0255-4AE7-AB53-CE62C990CBC1}" dt="2025-09-20T11:53:32.241" v="89" actId="20577"/>
          <ac:spMkLst>
            <pc:docMk/>
            <pc:sldMk cId="622727262" sldId="273"/>
            <ac:spMk id="2" creationId="{E766B2D4-0B51-662D-AFF2-88317C5D07F4}"/>
          </ac:spMkLst>
        </pc:spChg>
        <pc:spChg chg="mod">
          <ac:chgData name="Swathi Royal Kotte" userId="87d7da29e33ea4c3" providerId="LiveId" clId="{79BD6167-0255-4AE7-AB53-CE62C990CBC1}" dt="2025-09-20T11:54:03.992" v="94" actId="20577"/>
          <ac:spMkLst>
            <pc:docMk/>
            <pc:sldMk cId="622727262" sldId="273"/>
            <ac:spMk id="3" creationId="{991B216B-4406-E64B-3AAD-7F536BFBC6E3}"/>
          </ac:spMkLst>
        </pc:spChg>
      </pc:sldChg>
      <pc:sldChg chg="modSp add mod">
        <pc:chgData name="Swathi Royal Kotte" userId="87d7da29e33ea4c3" providerId="LiveId" clId="{79BD6167-0255-4AE7-AB53-CE62C990CBC1}" dt="2025-09-20T11:59:46.882" v="120" actId="20577"/>
        <pc:sldMkLst>
          <pc:docMk/>
          <pc:sldMk cId="4180015012" sldId="274"/>
        </pc:sldMkLst>
        <pc:spChg chg="mod">
          <ac:chgData name="Swathi Royal Kotte" userId="87d7da29e33ea4c3" providerId="LiveId" clId="{79BD6167-0255-4AE7-AB53-CE62C990CBC1}" dt="2025-09-20T11:57:13.948" v="107" actId="20577"/>
          <ac:spMkLst>
            <pc:docMk/>
            <pc:sldMk cId="4180015012" sldId="274"/>
            <ac:spMk id="2" creationId="{7A08C77F-1519-2074-8D4D-E965D0DFD927}"/>
          </ac:spMkLst>
        </pc:spChg>
        <pc:spChg chg="mod">
          <ac:chgData name="Swathi Royal Kotte" userId="87d7da29e33ea4c3" providerId="LiveId" clId="{79BD6167-0255-4AE7-AB53-CE62C990CBC1}" dt="2025-09-20T11:59:46.882" v="120" actId="20577"/>
          <ac:spMkLst>
            <pc:docMk/>
            <pc:sldMk cId="4180015012" sldId="274"/>
            <ac:spMk id="3" creationId="{67375365-B7E5-1DB6-7AA5-A1B3E6728C9B}"/>
          </ac:spMkLst>
        </pc:spChg>
      </pc:sldChg>
      <pc:sldChg chg="new del">
        <pc:chgData name="Swathi Royal Kotte" userId="87d7da29e33ea4c3" providerId="LiveId" clId="{79BD6167-0255-4AE7-AB53-CE62C990CBC1}" dt="2025-09-20T12:06:59.984" v="125" actId="2696"/>
        <pc:sldMkLst>
          <pc:docMk/>
          <pc:sldMk cId="1368911531" sldId="275"/>
        </pc:sldMkLst>
      </pc:sldChg>
      <pc:sldChg chg="delSp modSp add mod">
        <pc:chgData name="Swathi Royal Kotte" userId="87d7da29e33ea4c3" providerId="LiveId" clId="{79BD6167-0255-4AE7-AB53-CE62C990CBC1}" dt="2025-09-20T12:08:29.060" v="190" actId="14100"/>
        <pc:sldMkLst>
          <pc:docMk/>
          <pc:sldMk cId="3318578316" sldId="275"/>
        </pc:sldMkLst>
        <pc:spChg chg="mod">
          <ac:chgData name="Swathi Royal Kotte" userId="87d7da29e33ea4c3" providerId="LiveId" clId="{79BD6167-0255-4AE7-AB53-CE62C990CBC1}" dt="2025-09-20T12:08:29.060" v="190" actId="14100"/>
          <ac:spMkLst>
            <pc:docMk/>
            <pc:sldMk cId="3318578316" sldId="275"/>
            <ac:spMk id="2" creationId="{E91B5965-1F36-E60E-D6A3-494E16A737B4}"/>
          </ac:spMkLst>
        </pc:spChg>
        <pc:spChg chg="del mod">
          <ac:chgData name="Swathi Royal Kotte" userId="87d7da29e33ea4c3" providerId="LiveId" clId="{79BD6167-0255-4AE7-AB53-CE62C990CBC1}" dt="2025-09-20T12:07:22.341" v="130" actId="478"/>
          <ac:spMkLst>
            <pc:docMk/>
            <pc:sldMk cId="3318578316" sldId="275"/>
            <ac:spMk id="3" creationId="{F54E2120-C729-4037-74F3-21AE737849D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CE183BE-4CC0-4891-B4EB-9419C958AC8C}" type="datetimeFigureOut">
              <a:rPr lang="en-IN" smtClean="0"/>
              <a:t>20-09-2025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3764630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E183BE-4CC0-4891-B4EB-9419C958AC8C}" type="datetimeFigureOut">
              <a:rPr lang="en-IN" smtClean="0"/>
              <a:t>20-09-2025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379309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E183BE-4CC0-4891-B4EB-9419C958AC8C}" type="datetimeFigureOut">
              <a:rPr lang="en-IN" smtClean="0"/>
              <a:t>20-09-2025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2150178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E183BE-4CC0-4891-B4EB-9419C958AC8C}" type="datetimeFigureOut">
              <a:rPr lang="en-IN" smtClean="0"/>
              <a:t>20-09-2025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2224155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E183BE-4CC0-4891-B4EB-9419C958AC8C}" type="datetimeFigureOut">
              <a:rPr lang="en-IN" smtClean="0"/>
              <a:t>20-09-2025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2951332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E183BE-4CC0-4891-B4EB-9419C958AC8C}" type="datetimeFigureOut">
              <a:rPr lang="en-IN" smtClean="0"/>
              <a:t>20-09-2025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292978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E183BE-4CC0-4891-B4EB-9419C958AC8C}" type="datetimeFigureOut">
              <a:rPr lang="en-IN" smtClean="0"/>
              <a:t>20-09-2025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2577151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E183BE-4CC0-4891-B4EB-9419C958AC8C}" type="datetimeFigureOut">
              <a:rPr lang="en-IN" smtClean="0"/>
              <a:t>20-09-2025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46111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E183BE-4CC0-4891-B4EB-9419C958AC8C}" type="datetimeFigureOut">
              <a:rPr lang="en-IN" smtClean="0"/>
              <a:t>20-09-2025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624530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E183BE-4CC0-4891-B4EB-9419C958AC8C}" type="datetimeFigureOut">
              <a:rPr lang="en-IN" smtClean="0"/>
              <a:t>20-09-2025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1745479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E183BE-4CC0-4891-B4EB-9419C958AC8C}" type="datetimeFigureOut">
              <a:rPr lang="en-IN" smtClean="0"/>
              <a:t>20-09-2025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560EC90-FDD2-436F-BD5C-BE46F65DD493}" type="slidenum">
              <a:rPr lang="en-IN" smtClean="0"/>
              <a:t>‹#›</a:t>
            </a:fld>
            <a:endParaRPr lang="en-IN"/>
          </a:p>
        </p:txBody>
      </p:sp>
    </p:spTree>
    <p:extLst>
      <p:ext uri="{BB962C8B-B14F-4D97-AF65-F5344CB8AC3E}">
        <p14:creationId xmlns:p14="http://schemas.microsoft.com/office/powerpoint/2010/main" val="1626319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E183BE-4CC0-4891-B4EB-9419C958AC8C}" type="datetimeFigureOut">
              <a:rPr lang="en-IN" smtClean="0"/>
              <a:t>20-09-2025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60EC90-FDD2-436F-BD5C-BE46F65DD493}" type="slidenum">
              <a:rPr lang="en-IN" smtClean="0"/>
              <a:t>‹#›</a:t>
            </a:fld>
            <a:endParaRPr lang="en-IN"/>
          </a:p>
        </p:txBody>
      </p:sp>
    </p:spTree>
    <p:extLst>
      <p:ext uri="{BB962C8B-B14F-4D97-AF65-F5344CB8AC3E}">
        <p14:creationId xmlns:p14="http://schemas.microsoft.com/office/powerpoint/2010/main" val="82536195"/>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t="-14000" b="-1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C3B31-7CFC-B111-AB8A-68C269987D4C}"/>
              </a:ext>
            </a:extLst>
          </p:cNvPr>
          <p:cNvSpPr>
            <a:spLocks noGrp="1"/>
          </p:cNvSpPr>
          <p:nvPr>
            <p:ph type="ctrTitle"/>
          </p:nvPr>
        </p:nvSpPr>
        <p:spPr>
          <a:xfrm>
            <a:off x="2379643" y="1872867"/>
            <a:ext cx="8029632" cy="1383095"/>
          </a:xfrm>
          <a:noFill/>
        </p:spPr>
        <p:txBody>
          <a:bodyPr>
            <a:normAutofit/>
          </a:bodyPr>
          <a:lstStyle/>
          <a:p>
            <a:r>
              <a:rPr lang="en-US" b="1" dirty="0">
                <a:latin typeface="Times New Roman" panose="02020603050405020304" pitchFamily="18" charset="0"/>
                <a:cs typeface="Times New Roman" panose="02020603050405020304" pitchFamily="18" charset="0"/>
              </a:rPr>
              <a:t>Smart Doc Checker</a:t>
            </a:r>
            <a:endParaRPr lang="en-IN" dirty="0"/>
          </a:p>
        </p:txBody>
      </p:sp>
      <p:sp>
        <p:nvSpPr>
          <p:cNvPr id="3" name="Subtitle 2">
            <a:extLst>
              <a:ext uri="{FF2B5EF4-FFF2-40B4-BE49-F238E27FC236}">
                <a16:creationId xmlns:a16="http://schemas.microsoft.com/office/drawing/2014/main" id="{E38D09BF-E568-4E87-25C0-EDBB644A8AA4}"/>
              </a:ext>
            </a:extLst>
          </p:cNvPr>
          <p:cNvSpPr>
            <a:spLocks noGrp="1"/>
          </p:cNvSpPr>
          <p:nvPr>
            <p:ph type="subTitle" idx="1"/>
          </p:nvPr>
        </p:nvSpPr>
        <p:spPr>
          <a:xfrm>
            <a:off x="1524000" y="5474905"/>
            <a:ext cx="9144000" cy="1383095"/>
          </a:xfrm>
          <a:noFill/>
        </p:spPr>
        <p:txBody>
          <a:bodyPr/>
          <a:lstStyle/>
          <a:p>
            <a:r>
              <a:rPr lang="en-US" dirty="0">
                <a:latin typeface="Times New Roman" panose="02020603050405020304" pitchFamily="18" charset="0"/>
                <a:cs typeface="Times New Roman" panose="02020603050405020304" pitchFamily="18" charset="0"/>
              </a:rPr>
              <a:t>Presented by:</a:t>
            </a:r>
          </a:p>
          <a:p>
            <a:r>
              <a:rPr lang="en-US" b="1" dirty="0">
                <a:latin typeface="Times New Roman" panose="02020603050405020304" pitchFamily="18" charset="0"/>
                <a:cs typeface="Times New Roman" panose="02020603050405020304" pitchFamily="18" charset="0"/>
              </a:rPr>
              <a:t>Team </a:t>
            </a:r>
            <a:r>
              <a:rPr lang="en-US" b="1" dirty="0" err="1">
                <a:latin typeface="Times New Roman" panose="02020603050405020304" pitchFamily="18" charset="0"/>
                <a:cs typeface="Times New Roman" panose="02020603050405020304" pitchFamily="18" charset="0"/>
              </a:rPr>
              <a:t>HackOps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910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EE41F-E0D2-7269-8059-90D39619B258}"/>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PROBLEM STATEMENT</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4F0F73-F67D-E161-37E0-8669DD5ED57F}"/>
              </a:ext>
            </a:extLst>
          </p:cNvPr>
          <p:cNvSpPr>
            <a:spLocks noGrp="1"/>
          </p:cNvSpPr>
          <p:nvPr>
            <p:ph idx="1"/>
          </p:nvPr>
        </p:nvSpPr>
        <p:spPr>
          <a:noFill/>
        </p:spPr>
        <p:txBody>
          <a:bodyPr>
            <a:normAutofit/>
          </a:bodyPr>
          <a:lstStyle/>
          <a:p>
            <a:pPr marL="0" indent="0" algn="just">
              <a:lnSpc>
                <a:spcPct val="100000"/>
              </a:lnSpc>
              <a:buNone/>
            </a:pPr>
            <a:r>
              <a:rPr lang="en-US" sz="2300" dirty="0">
                <a:latin typeface="Times New Roman" panose="02020603050405020304" pitchFamily="18" charset="0"/>
                <a:cs typeface="Times New Roman" panose="02020603050405020304" pitchFamily="18" charset="0"/>
              </a:rPr>
              <a:t>Organizations such as companies, institutions, and clubs manage many documents policies, contracts, guidelines, and handbooks. Over time, contradictions emerge, such as mismatched deadlines, inconsistent attendance rules, or conflicting notice periods. These inconsistencies create confusion, inefficiencies, and risks of disputes or legal issues. Manual reconciliation is impractical due to document complexity and volume, while structural issues like siloed departments worsen the problem. If unresolved, contradictions can harm reputation, invite regulatory trouble, and cause strategic misalignment, as seen in cases like Boeing’s 737 MAX. This highlights the urgent need for automated systems to detect and manage contradictions efficiently.</a:t>
            </a: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4709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D447C821-0333-6BFA-B689-E27A0E863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0D00E-2000-40CC-965B-13FA02F1E187}"/>
              </a:ext>
            </a:extLst>
          </p:cNvPr>
          <p:cNvSpPr>
            <a:spLocks noGrp="1"/>
          </p:cNvSpPr>
          <p:nvPr>
            <p:ph type="title"/>
          </p:nvPr>
        </p:nvSpPr>
        <p:spPr/>
        <p:txBody>
          <a:bodyPr>
            <a:normAutofit/>
          </a:bodyPr>
          <a:lstStyle/>
          <a:p>
            <a:r>
              <a:rPr lang="en-IN" sz="3000"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C6C50C97-C490-0C84-EA3B-97224C54E4F9}"/>
              </a:ext>
            </a:extLst>
          </p:cNvPr>
          <p:cNvSpPr>
            <a:spLocks noGrp="1"/>
          </p:cNvSpPr>
          <p:nvPr>
            <p:ph idx="1"/>
          </p:nvPr>
        </p:nvSpPr>
        <p:spPr>
          <a:noFill/>
        </p:spPr>
        <p:txBody>
          <a:bodyPr>
            <a:normAutofit/>
          </a:bodyPr>
          <a:lstStyle/>
          <a:p>
            <a:pPr algn="just">
              <a:lnSpc>
                <a:spcPct val="100000"/>
              </a:lnSpc>
            </a:pPr>
            <a:r>
              <a:rPr lang="en-US" sz="2300" dirty="0">
                <a:latin typeface="Times New Roman" panose="02020603050405020304" pitchFamily="18" charset="0"/>
                <a:cs typeface="Times New Roman" panose="02020603050405020304" pitchFamily="18" charset="0"/>
              </a:rPr>
              <a:t>Develop a user-friendly portal for uploading multiple documents.</a:t>
            </a:r>
          </a:p>
          <a:p>
            <a:pPr algn="just">
              <a:lnSpc>
                <a:spcPct val="100000"/>
              </a:lnSpc>
            </a:pPr>
            <a:r>
              <a:rPr lang="en-US" sz="2300" dirty="0">
                <a:latin typeface="Times New Roman" panose="02020603050405020304" pitchFamily="18" charset="0"/>
                <a:cs typeface="Times New Roman" panose="02020603050405020304" pitchFamily="18" charset="0"/>
              </a:rPr>
              <a:t>Automatically detect contradictions and overlapping statements between them.</a:t>
            </a:r>
          </a:p>
          <a:p>
            <a:pPr algn="just">
              <a:lnSpc>
                <a:spcPct val="100000"/>
              </a:lnSpc>
            </a:pPr>
            <a:r>
              <a:rPr lang="en-US" sz="2300" dirty="0">
                <a:latin typeface="Times New Roman" panose="02020603050405020304" pitchFamily="18" charset="0"/>
                <a:cs typeface="Times New Roman" panose="02020603050405020304" pitchFamily="18" charset="0"/>
              </a:rPr>
              <a:t>Generate reports that clearly explain detected conflicts and suggest clarifications.</a:t>
            </a:r>
          </a:p>
          <a:p>
            <a:pPr algn="just">
              <a:lnSpc>
                <a:spcPct val="100000"/>
              </a:lnSpc>
            </a:pPr>
            <a:r>
              <a:rPr lang="en-US" sz="2300" dirty="0">
                <a:latin typeface="Times New Roman" panose="02020603050405020304" pitchFamily="18" charset="0"/>
                <a:cs typeface="Times New Roman" panose="02020603050405020304" pitchFamily="18" charset="0"/>
              </a:rPr>
              <a:t>Integrate usage tracking and billing to charge per document analyzed and report generated.</a:t>
            </a:r>
          </a:p>
          <a:p>
            <a:pPr algn="just">
              <a:lnSpc>
                <a:spcPct val="100000"/>
              </a:lnSpc>
            </a:pPr>
            <a:r>
              <a:rPr lang="en-US" sz="2300" dirty="0">
                <a:latin typeface="Times New Roman" panose="02020603050405020304" pitchFamily="18" charset="0"/>
                <a:cs typeface="Times New Roman" panose="02020603050405020304" pitchFamily="18" charset="0"/>
              </a:rPr>
              <a:t>Monitor external policy pages or documents to detect new conflicts in real-time.</a:t>
            </a:r>
          </a:p>
        </p:txBody>
      </p:sp>
    </p:spTree>
    <p:extLst>
      <p:ext uri="{BB962C8B-B14F-4D97-AF65-F5344CB8AC3E}">
        <p14:creationId xmlns:p14="http://schemas.microsoft.com/office/powerpoint/2010/main" val="3335475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15A2D06B-00DA-B1E8-830C-C3C4D2810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9B392-F4A6-42D1-3015-05CAAB875380}"/>
              </a:ext>
            </a:extLst>
          </p:cNvPr>
          <p:cNvSpPr>
            <a:spLocks noGrp="1"/>
          </p:cNvSpPr>
          <p:nvPr>
            <p:ph type="title"/>
          </p:nvPr>
        </p:nvSpPr>
        <p:spPr/>
        <p:txBody>
          <a:bodyPr>
            <a:normAutofit/>
          </a:bodyPr>
          <a:lstStyle/>
          <a:p>
            <a:r>
              <a:rPr lang="en-IN" sz="3000"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10A186A-E5CA-3D10-B232-1EF87E91E599}"/>
              </a:ext>
            </a:extLst>
          </p:cNvPr>
          <p:cNvSpPr>
            <a:spLocks noGrp="1"/>
          </p:cNvSpPr>
          <p:nvPr>
            <p:ph idx="1"/>
          </p:nvPr>
        </p:nvSpPr>
        <p:spPr>
          <a:noFill/>
        </p:spPr>
        <p:txBody>
          <a:bodyPr>
            <a:normAutofit/>
          </a:bodyPr>
          <a:lstStyle/>
          <a:p>
            <a:pPr marL="0" indent="0" algn="just">
              <a:lnSpc>
                <a:spcPct val="100000"/>
              </a:lnSpc>
              <a:buNone/>
            </a:pPr>
            <a:r>
              <a:rPr lang="en-US" sz="2300" dirty="0">
                <a:latin typeface="Times New Roman" panose="02020603050405020304" pitchFamily="18" charset="0"/>
                <a:cs typeface="Times New Roman" panose="02020603050405020304" pitchFamily="18" charset="0"/>
              </a:rPr>
              <a:t>Currently, most organizations depend heavily on manual or semi-automated document review processes. Compliance officers, legal teams, or administrators manually cross-check documents, which is time-consuming, inconsistent, and insufficient for large document sets or fast-changing environments. Some basic keyword search tools or text similarity methods are used, but these are limited to finding exact matches or overlapping content rather than semantic contradictions. Many existing AI applications focus on document classification, summarization, or sentiment analysis but fall short of identifying subtle or implicit conflicts that require deep contextual understanding. </a:t>
            </a:r>
          </a:p>
        </p:txBody>
      </p:sp>
    </p:spTree>
    <p:extLst>
      <p:ext uri="{BB962C8B-B14F-4D97-AF65-F5344CB8AC3E}">
        <p14:creationId xmlns:p14="http://schemas.microsoft.com/office/powerpoint/2010/main" val="1886162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539CE93A-10F6-1922-E9C6-6209A0755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B8A11-F25C-3F23-49F6-367C8A79E0AE}"/>
              </a:ext>
            </a:extLst>
          </p:cNvPr>
          <p:cNvSpPr>
            <a:spLocks noGrp="1"/>
          </p:cNvSpPr>
          <p:nvPr>
            <p:ph type="title"/>
          </p:nvPr>
        </p:nvSpPr>
        <p:spPr/>
        <p:txBody>
          <a:bodyPr>
            <a:normAutofit/>
          </a:bodyPr>
          <a:lstStyle/>
          <a:p>
            <a:r>
              <a:rPr lang="en-IN" sz="3000"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C88CCDF4-1C7B-E7EE-1D77-FAFBDE1770FF}"/>
              </a:ext>
            </a:extLst>
          </p:cNvPr>
          <p:cNvSpPr>
            <a:spLocks noGrp="1"/>
          </p:cNvSpPr>
          <p:nvPr>
            <p:ph idx="1"/>
          </p:nvPr>
        </p:nvSpPr>
        <p:spPr>
          <a:noFill/>
        </p:spPr>
        <p:txBody>
          <a:bodyPr>
            <a:normAutofit/>
          </a:bodyPr>
          <a:lstStyle/>
          <a:p>
            <a:pPr marL="0" indent="0" algn="just">
              <a:lnSpc>
                <a:spcPct val="100000"/>
              </a:lnSpc>
              <a:buNone/>
            </a:pPr>
            <a:r>
              <a:rPr lang="en-US" sz="2300" dirty="0">
                <a:latin typeface="Times New Roman" panose="02020603050405020304" pitchFamily="18" charset="0"/>
                <a:cs typeface="Times New Roman" panose="02020603050405020304" pitchFamily="18" charset="0"/>
              </a:rPr>
              <a:t>The Smart Doc Checker, is an AI-powered platform designed to automate the detection of contradictions across multiple organizational documents. It provides a user-friendly portal where users can upload 2-3 documents for analysis. The system leverages advanced natural language processing models to scan these documents, identify conflicting statements or overlapping clauses, and generate clear, detailed reports explaining each detected issue along with suggested clarifications. Additionally, the system incorporates Pathway integration to continuously monitor specified external documents or policy pages for updates, triggering automated contradiction re-evaluation in real-time to ensure ongoing accuracy and relevance. </a:t>
            </a:r>
          </a:p>
        </p:txBody>
      </p:sp>
    </p:spTree>
    <p:extLst>
      <p:ext uri="{BB962C8B-B14F-4D97-AF65-F5344CB8AC3E}">
        <p14:creationId xmlns:p14="http://schemas.microsoft.com/office/powerpoint/2010/main" val="1441707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CCC34-D5AA-51B6-EAFD-D7E85FB83083}"/>
              </a:ext>
            </a:extLst>
          </p:cNvPr>
          <p:cNvSpPr>
            <a:spLocks noGrp="1"/>
          </p:cNvSpPr>
          <p:nvPr>
            <p:ph type="title"/>
          </p:nvPr>
        </p:nvSpPr>
        <p:spPr>
          <a:xfrm>
            <a:off x="838200" y="0"/>
            <a:ext cx="10515600" cy="808074"/>
          </a:xfrm>
        </p:spPr>
        <p:txBody>
          <a:bodyPr>
            <a:normAutofit/>
          </a:bodyPr>
          <a:lstStyle/>
          <a:p>
            <a:r>
              <a:rPr lang="en-US" sz="3000" dirty="0">
                <a:latin typeface="Times New Roman" panose="02020603050405020304" pitchFamily="18" charset="0"/>
                <a:cs typeface="Times New Roman" panose="02020603050405020304" pitchFamily="18" charset="0"/>
              </a:rPr>
              <a:t>SYSTEM ARCHITECTURE</a:t>
            </a:r>
            <a:endParaRPr lang="en-IN" sz="30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7101C5AC-F89B-7B53-4E48-F1175DD58B6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7643" b="7643"/>
          <a:stretch>
            <a:fillRect/>
          </a:stretch>
        </p:blipFill>
        <p:spPr>
          <a:xfrm>
            <a:off x="0" y="584792"/>
            <a:ext cx="12192000" cy="6273208"/>
          </a:xfrm>
        </p:spPr>
      </p:pic>
    </p:spTree>
    <p:extLst>
      <p:ext uri="{BB962C8B-B14F-4D97-AF65-F5344CB8AC3E}">
        <p14:creationId xmlns:p14="http://schemas.microsoft.com/office/powerpoint/2010/main" val="1734507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FAACE024-8CD0-22A5-AB9F-6AB038369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5F81C-A19A-3422-5D40-482F1CA2412D}"/>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K</a:t>
            </a:r>
            <a:r>
              <a:rPr lang="en-IN" sz="3000" dirty="0">
                <a:latin typeface="Times New Roman" panose="02020603050405020304" pitchFamily="18" charset="0"/>
                <a:cs typeface="Times New Roman" panose="02020603050405020304" pitchFamily="18" charset="0"/>
              </a:rPr>
              <a:t>EY FEATURES</a:t>
            </a:r>
          </a:p>
        </p:txBody>
      </p:sp>
      <p:sp>
        <p:nvSpPr>
          <p:cNvPr id="3" name="Content Placeholder 2">
            <a:extLst>
              <a:ext uri="{FF2B5EF4-FFF2-40B4-BE49-F238E27FC236}">
                <a16:creationId xmlns:a16="http://schemas.microsoft.com/office/drawing/2014/main" id="{739C99A9-32EC-2696-C832-8594CF56668B}"/>
              </a:ext>
            </a:extLst>
          </p:cNvPr>
          <p:cNvSpPr>
            <a:spLocks noGrp="1"/>
          </p:cNvSpPr>
          <p:nvPr>
            <p:ph idx="1"/>
          </p:nvPr>
        </p:nvSpPr>
        <p:spPr>
          <a:noFill/>
        </p:spPr>
        <p:txBody>
          <a:bodyPr>
            <a:normAutofit/>
          </a:bodyPr>
          <a:lstStyle/>
          <a:p>
            <a:pPr algn="just">
              <a:lnSpc>
                <a:spcPct val="150000"/>
              </a:lnSpc>
            </a:pPr>
            <a:r>
              <a:rPr lang="en-US" sz="2300" dirty="0">
                <a:latin typeface="Times New Roman" panose="02020603050405020304" pitchFamily="18" charset="0"/>
                <a:cs typeface="Times New Roman" panose="02020603050405020304" pitchFamily="18" charset="0"/>
              </a:rPr>
              <a:t>Upload 2–3 documents at once for analysis.</a:t>
            </a:r>
          </a:p>
          <a:p>
            <a:pPr algn="just">
              <a:lnSpc>
                <a:spcPct val="150000"/>
              </a:lnSpc>
            </a:pPr>
            <a:r>
              <a:rPr lang="en-US" sz="2300" dirty="0">
                <a:latin typeface="Times New Roman" panose="02020603050405020304" pitchFamily="18" charset="0"/>
                <a:cs typeface="Times New Roman" panose="02020603050405020304" pitchFamily="18" charset="0"/>
              </a:rPr>
              <a:t>Highlight contradictions with explanatory comments.</a:t>
            </a:r>
          </a:p>
          <a:p>
            <a:pPr algn="just">
              <a:lnSpc>
                <a:spcPct val="150000"/>
              </a:lnSpc>
            </a:pPr>
            <a:r>
              <a:rPr lang="en-US" sz="2300" dirty="0">
                <a:latin typeface="Times New Roman" panose="02020603050405020304" pitchFamily="18" charset="0"/>
                <a:cs typeface="Times New Roman" panose="02020603050405020304" pitchFamily="18" charset="0"/>
              </a:rPr>
              <a:t>Automatically generate comprehensive conflict reports.</a:t>
            </a:r>
          </a:p>
          <a:p>
            <a:pPr algn="just">
              <a:lnSpc>
                <a:spcPct val="150000"/>
              </a:lnSpc>
            </a:pPr>
            <a:r>
              <a:rPr lang="en-US" sz="2300" dirty="0">
                <a:latin typeface="Times New Roman" panose="02020603050405020304" pitchFamily="18" charset="0"/>
                <a:cs typeface="Times New Roman" panose="02020603050405020304" pitchFamily="18" charset="0"/>
              </a:rPr>
              <a:t>Display usage count for documents analyzed and reports generated.</a:t>
            </a:r>
          </a:p>
          <a:p>
            <a:pPr algn="just">
              <a:lnSpc>
                <a:spcPct val="150000"/>
              </a:lnSpc>
            </a:pPr>
            <a:r>
              <a:rPr lang="en-US" sz="2300" dirty="0">
                <a:latin typeface="Times New Roman" panose="02020603050405020304" pitchFamily="18" charset="0"/>
                <a:cs typeface="Times New Roman" panose="02020603050405020304" pitchFamily="18" charset="0"/>
              </a:rPr>
              <a:t>Bill users transparently with flexible pricing per document and report.</a:t>
            </a:r>
          </a:p>
          <a:p>
            <a:pPr algn="just">
              <a:lnSpc>
                <a:spcPct val="150000"/>
              </a:lnSpc>
            </a:pPr>
            <a:r>
              <a:rPr lang="en-US" sz="2300" dirty="0">
                <a:latin typeface="Times New Roman" panose="02020603050405020304" pitchFamily="18" charset="0"/>
                <a:cs typeface="Times New Roman" panose="02020603050405020304" pitchFamily="18" charset="0"/>
              </a:rPr>
              <a:t>Real-time monitoring of external documents/policies for new contradictions.</a:t>
            </a:r>
          </a:p>
        </p:txBody>
      </p:sp>
    </p:spTree>
    <p:extLst>
      <p:ext uri="{BB962C8B-B14F-4D97-AF65-F5344CB8AC3E}">
        <p14:creationId xmlns:p14="http://schemas.microsoft.com/office/powerpoint/2010/main" val="3632342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3A1083E2-8FC9-4AA5-7F0B-03BC653F49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69749-4E3C-E1BB-F116-D687024B1560}"/>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TOOLS USED</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8E4235-5140-35D0-9C37-24ADC09BF437}"/>
              </a:ext>
            </a:extLst>
          </p:cNvPr>
          <p:cNvSpPr>
            <a:spLocks noGrp="1"/>
          </p:cNvSpPr>
          <p:nvPr>
            <p:ph idx="1"/>
          </p:nvPr>
        </p:nvSpPr>
        <p:spPr>
          <a:noFill/>
        </p:spPr>
        <p:txBody>
          <a:bodyPr>
            <a:normAutofit/>
          </a:bodyPr>
          <a:lstStyle/>
          <a:p>
            <a:pPr algn="just">
              <a:lnSpc>
                <a:spcPct val="150000"/>
              </a:lnSpc>
            </a:pPr>
            <a:r>
              <a:rPr lang="en-US" sz="2300" dirty="0">
                <a:latin typeface="Times New Roman" panose="02020603050405020304" pitchFamily="18" charset="0"/>
                <a:cs typeface="Times New Roman" panose="02020603050405020304" pitchFamily="18" charset="0"/>
              </a:rPr>
              <a:t>Natural Language Processing models (e.g., Transformer-based LLMs).</a:t>
            </a:r>
          </a:p>
          <a:p>
            <a:pPr algn="just">
              <a:lnSpc>
                <a:spcPct val="150000"/>
              </a:lnSpc>
            </a:pPr>
            <a:r>
              <a:rPr lang="en-US" sz="2300" dirty="0">
                <a:latin typeface="Times New Roman" panose="02020603050405020304" pitchFamily="18" charset="0"/>
                <a:cs typeface="Times New Roman" panose="02020603050405020304" pitchFamily="18" charset="0"/>
              </a:rPr>
              <a:t>Web framework for frontend and backend (such as React for UI, Flask/Django for backend).</a:t>
            </a:r>
          </a:p>
          <a:p>
            <a:pPr algn="just">
              <a:lnSpc>
                <a:spcPct val="150000"/>
              </a:lnSpc>
            </a:pPr>
            <a:r>
              <a:rPr lang="en-US" sz="2300" dirty="0">
                <a:latin typeface="Times New Roman" panose="02020603050405020304" pitchFamily="18" charset="0"/>
                <a:cs typeface="Times New Roman" panose="02020603050405020304" pitchFamily="18" charset="0"/>
              </a:rPr>
              <a:t>Flexprice API for billing and usage tracking.</a:t>
            </a:r>
          </a:p>
          <a:p>
            <a:pPr algn="just">
              <a:lnSpc>
                <a:spcPct val="150000"/>
              </a:lnSpc>
            </a:pPr>
            <a:r>
              <a:rPr lang="en-US" sz="2300" dirty="0">
                <a:latin typeface="Times New Roman" panose="02020603050405020304" pitchFamily="18" charset="0"/>
                <a:cs typeface="Times New Roman" panose="02020603050405020304" pitchFamily="18" charset="0"/>
              </a:rPr>
              <a:t>Pathway API for external document update monitoring.</a:t>
            </a:r>
          </a:p>
          <a:p>
            <a:pPr algn="just">
              <a:lnSpc>
                <a:spcPct val="150000"/>
              </a:lnSpc>
            </a:pPr>
            <a:r>
              <a:rPr lang="en-US" sz="2300" dirty="0">
                <a:latin typeface="Times New Roman" panose="02020603050405020304" pitchFamily="18" charset="0"/>
                <a:cs typeface="Times New Roman" panose="02020603050405020304" pitchFamily="18" charset="0"/>
              </a:rPr>
              <a:t>Cloud storage solutions for document and report persistence.</a:t>
            </a:r>
          </a:p>
        </p:txBody>
      </p:sp>
    </p:spTree>
    <p:extLst>
      <p:ext uri="{BB962C8B-B14F-4D97-AF65-F5344CB8AC3E}">
        <p14:creationId xmlns:p14="http://schemas.microsoft.com/office/powerpoint/2010/main" val="1579711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E54EE7C3-4A25-34C3-5F67-A3E3912ADC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83424-B29E-953F-DBF4-D6D98BEBBB77}"/>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USE CASES</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A0701F-ED06-781C-450C-46FCD3C5A6C8}"/>
              </a:ext>
            </a:extLst>
          </p:cNvPr>
          <p:cNvSpPr>
            <a:spLocks noGrp="1"/>
          </p:cNvSpPr>
          <p:nvPr>
            <p:ph idx="1"/>
          </p:nvPr>
        </p:nvSpPr>
        <p:spPr>
          <a:xfrm>
            <a:off x="838200" y="1828800"/>
            <a:ext cx="10515600" cy="4805916"/>
          </a:xfrm>
          <a:noFill/>
        </p:spPr>
        <p:txBody>
          <a:bodyPr>
            <a:noAutofit/>
          </a:bodyPr>
          <a:lstStyle/>
          <a:p>
            <a:pPr algn="just">
              <a:lnSpc>
                <a:spcPct val="100000"/>
              </a:lnSpc>
            </a:pPr>
            <a:r>
              <a:rPr lang="en-US" sz="2300" b="1" dirty="0">
                <a:latin typeface="Times New Roman" panose="02020603050405020304" pitchFamily="18" charset="0"/>
                <a:cs typeface="Times New Roman" panose="02020603050405020304" pitchFamily="18" charset="0"/>
              </a:rPr>
              <a:t>Corporate Compliance:</a:t>
            </a:r>
            <a:r>
              <a:rPr lang="en-US" sz="2300" dirty="0">
                <a:latin typeface="Times New Roman" panose="02020603050405020304" pitchFamily="18" charset="0"/>
                <a:cs typeface="Times New Roman" panose="02020603050405020304" pitchFamily="18" charset="0"/>
              </a:rPr>
              <a:t> Avoid contradictory contract terms and policy errors to reduce legal risk.</a:t>
            </a:r>
          </a:p>
          <a:p>
            <a:pPr algn="just">
              <a:lnSpc>
                <a:spcPct val="100000"/>
              </a:lnSpc>
            </a:pPr>
            <a:r>
              <a:rPr lang="en-US" sz="2300" b="1" dirty="0">
                <a:latin typeface="Times New Roman" panose="02020603050405020304" pitchFamily="18" charset="0"/>
                <a:cs typeface="Times New Roman" panose="02020603050405020304" pitchFamily="18" charset="0"/>
              </a:rPr>
              <a:t>Educational Institutions: </a:t>
            </a:r>
            <a:r>
              <a:rPr lang="en-US" sz="2300" dirty="0">
                <a:latin typeface="Times New Roman" panose="02020603050405020304" pitchFamily="18" charset="0"/>
                <a:cs typeface="Times New Roman" panose="02020603050405020304" pitchFamily="18" charset="0"/>
              </a:rPr>
              <a:t>Harmonize circulars, guidelines, and attendance policies preventing student confusion.</a:t>
            </a:r>
          </a:p>
          <a:p>
            <a:pPr algn="just">
              <a:lnSpc>
                <a:spcPct val="100000"/>
              </a:lnSpc>
            </a:pPr>
            <a:r>
              <a:rPr lang="en-US" sz="2300" b="1" dirty="0">
                <a:latin typeface="Times New Roman" panose="02020603050405020304" pitchFamily="18" charset="0"/>
                <a:cs typeface="Times New Roman" panose="02020603050405020304" pitchFamily="18" charset="0"/>
              </a:rPr>
              <a:t>Startups &amp; SMEs: </a:t>
            </a:r>
            <a:r>
              <a:rPr lang="en-US" sz="2300" dirty="0">
                <a:latin typeface="Times New Roman" panose="02020603050405020304" pitchFamily="18" charset="0"/>
                <a:cs typeface="Times New Roman" panose="02020603050405020304" pitchFamily="18" charset="0"/>
              </a:rPr>
              <a:t>Save time on manual document reviews, improving efficiency and decision-making.</a:t>
            </a:r>
          </a:p>
          <a:p>
            <a:pPr algn="just">
              <a:lnSpc>
                <a:spcPct val="100000"/>
              </a:lnSpc>
            </a:pPr>
            <a:r>
              <a:rPr lang="en-US" sz="2300" b="1" dirty="0">
                <a:latin typeface="Times New Roman" panose="02020603050405020304" pitchFamily="18" charset="0"/>
                <a:cs typeface="Times New Roman" panose="02020603050405020304" pitchFamily="18" charset="0"/>
              </a:rPr>
              <a:t>Human Resources:</a:t>
            </a:r>
            <a:r>
              <a:rPr lang="en-US" sz="2300" dirty="0">
                <a:latin typeface="Times New Roman" panose="02020603050405020304" pitchFamily="18" charset="0"/>
                <a:cs typeface="Times New Roman" panose="02020603050405020304" pitchFamily="18" charset="0"/>
              </a:rPr>
              <a:t> Ensure consistency between employee handbooks and contracts to streamline onboarding.</a:t>
            </a:r>
          </a:p>
          <a:p>
            <a:pPr algn="just">
              <a:lnSpc>
                <a:spcPct val="100000"/>
              </a:lnSpc>
            </a:pPr>
            <a:r>
              <a:rPr lang="en-US" sz="2300" b="1" dirty="0">
                <a:latin typeface="Times New Roman" panose="02020603050405020304" pitchFamily="18" charset="0"/>
                <a:cs typeface="Times New Roman" panose="02020603050405020304" pitchFamily="18" charset="0"/>
              </a:rPr>
              <a:t>Government &amp; Public Sector: </a:t>
            </a:r>
            <a:r>
              <a:rPr lang="en-US" sz="2300" dirty="0">
                <a:latin typeface="Times New Roman" panose="02020603050405020304" pitchFamily="18" charset="0"/>
                <a:cs typeface="Times New Roman" panose="02020603050405020304" pitchFamily="18" charset="0"/>
              </a:rPr>
              <a:t>Monitor regulation documents to maintain compliance and transparency.</a:t>
            </a:r>
          </a:p>
        </p:txBody>
      </p:sp>
    </p:spTree>
    <p:extLst>
      <p:ext uri="{BB962C8B-B14F-4D97-AF65-F5344CB8AC3E}">
        <p14:creationId xmlns:p14="http://schemas.microsoft.com/office/powerpoint/2010/main" val="2831031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B8C12F3D-423F-65B4-8615-2568EF0C53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87A09-C75C-BDDF-223C-222FE143647A}"/>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IMPACT</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15AD28-D82B-08D2-DB8A-8EE3C003CF5C}"/>
              </a:ext>
            </a:extLst>
          </p:cNvPr>
          <p:cNvSpPr>
            <a:spLocks noGrp="1"/>
          </p:cNvSpPr>
          <p:nvPr>
            <p:ph idx="1"/>
          </p:nvPr>
        </p:nvSpPr>
        <p:spPr>
          <a:xfrm>
            <a:off x="838200" y="1828800"/>
            <a:ext cx="10515600" cy="4805916"/>
          </a:xfrm>
          <a:noFill/>
        </p:spPr>
        <p:txBody>
          <a:bodyPr>
            <a:noAutofit/>
          </a:bodyPr>
          <a:lstStyle/>
          <a:p>
            <a:pPr algn="just">
              <a:lnSpc>
                <a:spcPct val="150000"/>
              </a:lnSpc>
            </a:pPr>
            <a:r>
              <a:rPr lang="en-US" sz="2300" dirty="0">
                <a:latin typeface="Times New Roman" panose="02020603050405020304" pitchFamily="18" charset="0"/>
                <a:cs typeface="Times New Roman" panose="02020603050405020304" pitchFamily="18" charset="0"/>
              </a:rPr>
              <a:t>Reduces manual workload and human error.</a:t>
            </a:r>
          </a:p>
          <a:p>
            <a:pPr algn="just">
              <a:lnSpc>
                <a:spcPct val="150000"/>
              </a:lnSpc>
            </a:pPr>
            <a:r>
              <a:rPr lang="en-US" sz="2300" dirty="0">
                <a:latin typeface="Times New Roman" panose="02020603050405020304" pitchFamily="18" charset="0"/>
                <a:cs typeface="Times New Roman" panose="02020603050405020304" pitchFamily="18" charset="0"/>
              </a:rPr>
              <a:t>Speeds up document validation cycles.</a:t>
            </a:r>
          </a:p>
          <a:p>
            <a:pPr algn="just">
              <a:lnSpc>
                <a:spcPct val="150000"/>
              </a:lnSpc>
            </a:pPr>
            <a:r>
              <a:rPr lang="en-US" sz="2300" dirty="0">
                <a:latin typeface="Times New Roman" panose="02020603050405020304" pitchFamily="18" charset="0"/>
                <a:cs typeface="Times New Roman" panose="02020603050405020304" pitchFamily="18" charset="0"/>
              </a:rPr>
              <a:t>Improves clarity and governance in organizational documents.</a:t>
            </a:r>
          </a:p>
          <a:p>
            <a:pPr algn="just">
              <a:lnSpc>
                <a:spcPct val="150000"/>
              </a:lnSpc>
            </a:pPr>
            <a:r>
              <a:rPr lang="en-US" sz="2300" dirty="0">
                <a:latin typeface="Times New Roman" panose="02020603050405020304" pitchFamily="18" charset="0"/>
                <a:cs typeface="Times New Roman" panose="02020603050405020304" pitchFamily="18" charset="0"/>
              </a:rPr>
              <a:t>Enables real-time conflict detection on policy changes.</a:t>
            </a:r>
          </a:p>
        </p:txBody>
      </p:sp>
    </p:spTree>
    <p:extLst>
      <p:ext uri="{BB962C8B-B14F-4D97-AF65-F5344CB8AC3E}">
        <p14:creationId xmlns:p14="http://schemas.microsoft.com/office/powerpoint/2010/main" val="2936464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430645B4-5BC1-DF34-FDE4-3130E524D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66B2D4-0B51-662D-AFF2-88317C5D07F4}"/>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FUTURE ENHANCEMENT</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1B216B-4406-E64B-3AAD-7F536BFBC6E3}"/>
              </a:ext>
            </a:extLst>
          </p:cNvPr>
          <p:cNvSpPr>
            <a:spLocks noGrp="1"/>
          </p:cNvSpPr>
          <p:nvPr>
            <p:ph idx="1"/>
          </p:nvPr>
        </p:nvSpPr>
        <p:spPr>
          <a:xfrm>
            <a:off x="838200" y="1828800"/>
            <a:ext cx="10515600" cy="4805916"/>
          </a:xfrm>
          <a:noFill/>
        </p:spPr>
        <p:txBody>
          <a:bodyPr>
            <a:noAutofit/>
          </a:bodyPr>
          <a:lstStyle/>
          <a:p>
            <a:pPr algn="just">
              <a:lnSpc>
                <a:spcPct val="150000"/>
              </a:lnSpc>
            </a:pPr>
            <a:r>
              <a:rPr lang="en-US" sz="2300" dirty="0">
                <a:latin typeface="Times New Roman" panose="02020603050405020304" pitchFamily="18" charset="0"/>
                <a:cs typeface="Times New Roman" panose="02020603050405020304" pitchFamily="18" charset="0"/>
              </a:rPr>
              <a:t>Expand support for more document formats (PDFs, scanned images, tables).</a:t>
            </a:r>
          </a:p>
          <a:p>
            <a:pPr algn="just">
              <a:lnSpc>
                <a:spcPct val="150000"/>
              </a:lnSpc>
            </a:pPr>
            <a:r>
              <a:rPr lang="en-US" sz="2300" dirty="0">
                <a:latin typeface="Times New Roman" panose="02020603050405020304" pitchFamily="18" charset="0"/>
                <a:cs typeface="Times New Roman" panose="02020603050405020304" pitchFamily="18" charset="0"/>
              </a:rPr>
              <a:t>Incorporate deeper semantic understanding for nuanced contradictions.</a:t>
            </a:r>
          </a:p>
          <a:p>
            <a:pPr algn="just">
              <a:lnSpc>
                <a:spcPct val="150000"/>
              </a:lnSpc>
            </a:pPr>
            <a:r>
              <a:rPr lang="en-US" sz="2300" dirty="0">
                <a:latin typeface="Times New Roman" panose="02020603050405020304" pitchFamily="18" charset="0"/>
                <a:cs typeface="Times New Roman" panose="02020603050405020304" pitchFamily="18" charset="0"/>
              </a:rPr>
              <a:t>Enable multilingual document processing for global users.</a:t>
            </a:r>
          </a:p>
          <a:p>
            <a:pPr algn="just">
              <a:lnSpc>
                <a:spcPct val="150000"/>
              </a:lnSpc>
            </a:pPr>
            <a:r>
              <a:rPr lang="en-US" sz="2300" dirty="0">
                <a:latin typeface="Times New Roman" panose="02020603050405020304" pitchFamily="18" charset="0"/>
                <a:cs typeface="Times New Roman" panose="02020603050405020304" pitchFamily="18" charset="0"/>
              </a:rPr>
              <a:t>Integrate with enterprise workflow tools (e.g., SharePoint, Jira).</a:t>
            </a:r>
          </a:p>
          <a:p>
            <a:pPr algn="just">
              <a:lnSpc>
                <a:spcPct val="150000"/>
              </a:lnSpc>
            </a:pPr>
            <a:r>
              <a:rPr lang="en-US" sz="2300" dirty="0">
                <a:latin typeface="Times New Roman" panose="02020603050405020304" pitchFamily="18" charset="0"/>
                <a:cs typeface="Times New Roman" panose="02020603050405020304" pitchFamily="18" charset="0"/>
              </a:rPr>
              <a:t>Add AI-powered suggestions and automated conflict resolution mechanisms.</a:t>
            </a:r>
          </a:p>
        </p:txBody>
      </p:sp>
    </p:spTree>
    <p:extLst>
      <p:ext uri="{BB962C8B-B14F-4D97-AF65-F5344CB8AC3E}">
        <p14:creationId xmlns:p14="http://schemas.microsoft.com/office/powerpoint/2010/main" val="622727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AD03FED5-F291-3A3B-A8C7-12EA5C78F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8C77F-1519-2074-8D4D-E965D0DFD927}"/>
              </a:ext>
            </a:extLst>
          </p:cNvPr>
          <p:cNvSpPr>
            <a:spLocks noGrp="1"/>
          </p:cNvSpPr>
          <p:nvPr>
            <p:ph type="title"/>
          </p:nvPr>
        </p:nvSpPr>
        <p:spPr/>
        <p:txBody>
          <a:bodyPr>
            <a:normAutofit/>
          </a:bodyPr>
          <a:lstStyle/>
          <a:p>
            <a:r>
              <a:rPr lang="en-US" sz="3000" dirty="0">
                <a:latin typeface="Times New Roman" panose="02020603050405020304" pitchFamily="18" charset="0"/>
                <a:cs typeface="Times New Roman" panose="02020603050405020304" pitchFamily="18" charset="0"/>
              </a:rPr>
              <a:t>CONCLUSION</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375365-B7E5-1DB6-7AA5-A1B3E6728C9B}"/>
              </a:ext>
            </a:extLst>
          </p:cNvPr>
          <p:cNvSpPr>
            <a:spLocks noGrp="1"/>
          </p:cNvSpPr>
          <p:nvPr>
            <p:ph idx="1"/>
          </p:nvPr>
        </p:nvSpPr>
        <p:spPr>
          <a:xfrm>
            <a:off x="838200" y="1828800"/>
            <a:ext cx="10515600" cy="4805916"/>
          </a:xfrm>
          <a:noFill/>
        </p:spPr>
        <p:txBody>
          <a:bodyPr>
            <a:noAutofit/>
          </a:bodyPr>
          <a:lstStyle/>
          <a:p>
            <a:pPr marL="0" indent="0" algn="just">
              <a:lnSpc>
                <a:spcPct val="100000"/>
              </a:lnSpc>
              <a:buNone/>
            </a:pPr>
            <a:r>
              <a:rPr lang="en-US" sz="2300" dirty="0">
                <a:latin typeface="Times New Roman" panose="02020603050405020304" pitchFamily="18" charset="0"/>
                <a:cs typeface="Times New Roman" panose="02020603050405020304" pitchFamily="18" charset="0"/>
              </a:rPr>
              <a:t>The pervasive presence of contradictory information in organizational documents poses a significant risk to operational efficiency, legal compliance, strategic clarity, and reputation. Manual approaches are inadequate due to scale and complexity. The Smart Doc Checker offers a robust, scalable solution by leveraging advanced AI and NLP techniques to automatically identify, explain, and report document contradictions. Its integration with usage tracking and Flexprice billing creates transparency and commercial viability, while real-time monitoring via Pathway ensures that new conflicts are discovered without delay. Adopting such a system helps organizations reduce risk, save time, and foster coherent governance. </a:t>
            </a:r>
          </a:p>
        </p:txBody>
      </p:sp>
    </p:spTree>
    <p:extLst>
      <p:ext uri="{BB962C8B-B14F-4D97-AF65-F5344CB8AC3E}">
        <p14:creationId xmlns:p14="http://schemas.microsoft.com/office/powerpoint/2010/main" val="4180015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t="-14000" b="-14000"/>
          </a:stretch>
        </a:blipFill>
        <a:effectLst/>
      </p:bgPr>
    </p:bg>
    <p:spTree>
      <p:nvGrpSpPr>
        <p:cNvPr id="1" name="">
          <a:extLst>
            <a:ext uri="{FF2B5EF4-FFF2-40B4-BE49-F238E27FC236}">
              <a16:creationId xmlns:a16="http://schemas.microsoft.com/office/drawing/2014/main" id="{AE266358-9ABC-FC34-117B-4BA5E69C0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B5965-1F36-E60E-D6A3-494E16A737B4}"/>
              </a:ext>
            </a:extLst>
          </p:cNvPr>
          <p:cNvSpPr>
            <a:spLocks noGrp="1"/>
          </p:cNvSpPr>
          <p:nvPr>
            <p:ph type="title"/>
          </p:nvPr>
        </p:nvSpPr>
        <p:spPr>
          <a:xfrm>
            <a:off x="2551814" y="2721935"/>
            <a:ext cx="7419754" cy="1658679"/>
          </a:xfrm>
        </p:spPr>
        <p:txBody>
          <a:bodyPr>
            <a:normAutofit/>
          </a:bodyPr>
          <a:lstStyle/>
          <a:p>
            <a:pPr algn="ctr"/>
            <a:r>
              <a:rPr lang="en-US" sz="7000" b="1" dirty="0">
                <a:latin typeface="Times New Roman" panose="02020603050405020304" pitchFamily="18" charset="0"/>
                <a:cs typeface="Times New Roman" panose="02020603050405020304" pitchFamily="18" charset="0"/>
              </a:rPr>
              <a:t>THANKYOU</a:t>
            </a:r>
            <a:endParaRPr lang="en-IN" sz="7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85783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155</TotalTime>
  <Words>777</Words>
  <Application>Microsoft Office PowerPoint</Application>
  <PresentationFormat>Widescreen</PresentationFormat>
  <Paragraphs>49</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Smart Doc Checker</vt:lpstr>
      <vt:lpstr>PROBLEM STATEMENT</vt:lpstr>
      <vt:lpstr>OBJECTIVES</vt:lpstr>
      <vt:lpstr>EXISTING SYSTEM</vt:lpstr>
      <vt:lpstr>PROPOSED SYSTEM</vt:lpstr>
      <vt:lpstr>SYSTEM ARCHITECTURE</vt:lpstr>
      <vt:lpstr>KEY FEATURES</vt:lpstr>
      <vt:lpstr>TOOLS USED</vt:lpstr>
      <vt:lpstr>USE CASES</vt:lpstr>
      <vt:lpstr>IMPACT</vt:lpstr>
      <vt:lpstr>FUTURE ENHANCEMENT</vt:lpstr>
      <vt:lpstr>CONCLUSION</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Swathi Royal Kotte</dc:creator>
  <cp:lastModifiedBy>Swathi Royal Kotte</cp:lastModifiedBy>
  <cp:revision>1</cp:revision>
  <dcterms:created xsi:type="dcterms:W3CDTF">2025-09-20T09:32:47Z</dcterms:created>
  <dcterms:modified xsi:type="dcterms:W3CDTF">2025-09-20T12:08:36Z</dcterms:modified>
</cp:coreProperties>
</file>